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183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92240" y="365760"/>
            <a:ext cx="2011680" cy="20116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822960"/>
            <a:ext cx="1188720" cy="118872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0" y="2834640"/>
            <a:ext cx="914400" cy="9144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0" y="3200400"/>
            <a:ext cx="640080" cy="64008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1600200" cy="25603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CLOUD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94560" y="1143000"/>
            <a:ext cx="160020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94560" y="1143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IoT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23360" y="1143000"/>
            <a:ext cx="1600200" cy="25603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0" y="1143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5G / 6G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150876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Architecture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Modern Networks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protocol connects Cloud infrastructure,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 and 5G/6G mobile networks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681728"/>
            <a:ext cx="8412480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Dimitrios Dalaklidis  |  Network Design  |  University of Western Macedonia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IP in Cloud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is the universal layer that makes dynamic, virtualised cloud environments possible.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&amp; Containers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" y="2011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VM or container gets its own virtual network interface and IP address — creating the illusion of an independent compute node. IP acts as the common layer connecting virtual workloads to physical infrastructure.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41732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27832" y="1417320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92424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Switches &amp; Routers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92424" y="2011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switches forward IP packets between VMs on the same physical host without touching the physical network — delivering low latency. Virtual routers connect isolated tenant networks and provide external access.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9632" y="141732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99632" y="1417320"/>
            <a:ext cx="27889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64224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VXLAN Overlay Networks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64224" y="2011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VXLAN encapsulates Ethernet frames inside IP/UDP packets, enabling up to 16 million isolated virtual networks to coexist on the same physical Layer 3 fabric — each tenant identified by a unique VNI.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3840480"/>
            <a:ext cx="864108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384048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impact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NICs offload IP checksum calculation and VXLAN encapsulation from the CPU — critical at scale. Multiqueue NICs allow parallel processing of multiple IP flows, sustaining performance in high-density VM environments.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IP in IoT — Constrained Devices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IP on devices with kilobytes of RAM required fundamental protocol redesign — not just optimisation.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Node Classes (RFC 7228)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874520"/>
            <a:ext cx="41148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" y="2057400"/>
            <a:ext cx="475488" cy="47548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9264" y="19476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KiB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" y="22402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run IP stack — requires gateway proxy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78892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" y="297180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9264" y="2862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KiB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9264" y="31546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6LoWPAN + lightweight stack (uIP/lwIP)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3703320"/>
            <a:ext cx="41148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4048" y="388620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9264" y="37764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KiB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9264" y="40690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 full protocols — with energy constraints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1417320"/>
            <a:ext cx="42793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7720" y="141732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168" y="14904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— Essential for IoT Scale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73168" y="180136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IPv4's 4 billion addresses are exhausted. IPv6 provides 340 undecillion addresses, stateless autoconfiguration, and simpler headers — critical for billions of connected devices.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617720" y="2532888"/>
            <a:ext cx="42793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17720" y="2532888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73168" y="26060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6LoWPAN — Header Compression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73168" y="291693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IPv6 headers from 40 bytes to just 2–3 bytes. Essential for IEEE 802.15.4 networks with 127-byte frame limits and severe bandwidth constraints.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617720" y="3648456"/>
            <a:ext cx="42793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17720" y="3648456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73168" y="37216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OS Stacks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73168" y="403250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Contiki and RIOT implement event-driven TCP/IP with minimal footprint, enabling real-time IP communication on hardware with less RAM than a 1980s home computer.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256032" y="4727448"/>
            <a:ext cx="864108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7274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trade-off: Every IoT stack choice balances IP compatibility, energy consumption, and memory footprint.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IP in 5G/6G Networks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is built all-IP from the ground up — every packet, every control signal, every voice call travels over IP.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41879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418795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5453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All-IP 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" y="1929384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data and control signals converge on IP — eliminating legacy circuit-switched infrastructure. This simplifies network management and enables full convergence between fixed and mobile networks.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41879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18795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3752" y="15453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&amp; Handover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929384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Mobile IPv6 (PMIPv6) keeps a user's IP address constant across base stations. Session and Service Continuity (SSC) modes deliver zero-interruption handovers — even at high speed.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3172968"/>
            <a:ext cx="41879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3172968"/>
            <a:ext cx="4187952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" y="33009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Slicing (SRv6)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" y="3685032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IP-in-IP encapsulation and Segment Routing (SRv6) carve the same physical infrastructure into isolated virtual networks — each with its own QoS profile for autonomous vehicles, video streaming, or smart grids.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172968"/>
            <a:ext cx="41879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3172968"/>
            <a:ext cx="418795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73752" y="33009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 &amp; Edge Computing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3685032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Ultra-Reliable Low Latency Communications demand sub-1ms IP stacks. Multi-access Edge Computing (MEC) pushes processing to the network edge using SmartNICs and IP-aware routing — avoiding central datacenter round-trips.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727448"/>
            <a:ext cx="841248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evolution: IP is being extended to support semantic communication — where the meaning of data influences routing decisions, not just destination addresses.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Across Domains —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19072" y="1024128"/>
            <a:ext cx="22402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19072" y="1024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59352" y="1024128"/>
            <a:ext cx="22402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59352" y="1024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9632" y="1024128"/>
            <a:ext cx="22402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9632" y="1024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5G / 6G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463040"/>
            <a:ext cx="8641080" cy="74980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463040"/>
            <a:ext cx="54864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463040"/>
            <a:ext cx="1298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19072" y="1463040"/>
            <a:ext cx="45720" cy="749808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0" y="1463040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VMs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containers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59352" y="1463040"/>
            <a:ext cx="45720" cy="74980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69080" y="1463040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nodes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9632" y="1463040"/>
            <a:ext cx="45720" cy="74980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1463040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users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267712"/>
            <a:ext cx="8641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2267712"/>
            <a:ext cx="54864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2267712"/>
            <a:ext cx="1298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719072" y="2267712"/>
            <a:ext cx="45720" cy="749808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28800" y="2267712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VXLAN, overlay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59352" y="2267712"/>
            <a:ext cx="45720" cy="74980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69080" y="2267712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6LoWPAN, IPv6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9632" y="2267712"/>
            <a:ext cx="45720" cy="74980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2267712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SRv6, PMIPv6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072384"/>
            <a:ext cx="8641080" cy="74980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" y="3072384"/>
            <a:ext cx="54864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3072384"/>
            <a:ext cx="1298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challenge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719072" y="3072384"/>
            <a:ext cx="45720" cy="749808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28800" y="3072384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59352" y="3072384"/>
            <a:ext cx="45720" cy="74980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069080" y="3072384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99632" y="3072384"/>
            <a:ext cx="45720" cy="74980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09360" y="3072384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3877056"/>
            <a:ext cx="8641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6032" y="3877056"/>
            <a:ext cx="54864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47472" y="3877056"/>
            <a:ext cx="1298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role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719072" y="3877056"/>
            <a:ext cx="45720" cy="749808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828800" y="3877056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between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entities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959352" y="3877056"/>
            <a:ext cx="45720" cy="74980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069080" y="3877056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address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tiny devices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99632" y="3877056"/>
            <a:ext cx="45720" cy="74980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09360" y="3877056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All-IP convergence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slicing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274320"/>
            <a:ext cx="2377440" cy="237744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731520"/>
            <a:ext cx="1371600" cy="1371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75120" y="3108960"/>
            <a:ext cx="731520" cy="73152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0" y="2743200"/>
            <a:ext cx="548640" cy="54864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CONCLUSION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The Common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of Modern Networks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65760" y="254203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45059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Cloud, IP enables millions of virtual entities to communicate as if on a single flat network — while staying physically isolated through VXLAN and overlay techniques.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22783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313639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IoT, IPv6 and 6LoWPAN make IP viable on devices with kilobytes of RAM — extending internet connectivity to billions of constrained sensors and actuators.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91363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82219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5G/6G, an all-IP architecture converges voice, data and control into one fabric — with network slicing and edge computing delivering ultra-low latency at scale.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4681728"/>
            <a:ext cx="8412480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References: RFC 7348 (VXLAN) · RFC 7228 (IoT Nodes) · Mulligan 2007 (6LoWPAN) · Shayea et al. 2020 (5G Mobility)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</Words>
  <Application>Microsoft Office PowerPoint</Application>
  <PresentationFormat>On-screen Show (16:9)</PresentationFormat>
  <Paragraphs>93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DIMITRIOS DALAKLIDIS</cp:lastModifiedBy>
  <cp:revision>1</cp:revision>
  <dcterms:created xsi:type="dcterms:W3CDTF">2026-02-20T02:19:00Z</dcterms:created>
  <dcterms:modified xsi:type="dcterms:W3CDTF">2026-02-20T02:26:36Z</dcterms:modified>
</cp:coreProperties>
</file>